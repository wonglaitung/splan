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Noto Sans SC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0A5A75-5784-48D4-B658-F0097067539E}">
  <a:tblStyle styleId="{6C0A5A75-5784-48D4-B658-F009706753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-italic.fntdata"/><Relationship Id="rId13" Type="http://schemas.openxmlformats.org/officeDocument/2006/relationships/slide" Target="slides/slide7.xml"/><Relationship Id="rId24" Type="http://schemas.openxmlformats.org/officeDocument/2006/relationships/font" Target="fonts/NotoSansSC-bold.fntdata"/><Relationship Id="rId12" Type="http://schemas.openxmlformats.org/officeDocument/2006/relationships/slide" Target="slides/slide6.xml"/><Relationship Id="rId23" Type="http://schemas.openxmlformats.org/officeDocument/2006/relationships/font" Target="fonts/NotoSansS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.png"/><Relationship Id="rId13" Type="http://schemas.openxmlformats.org/officeDocument/2006/relationships/image" Target="../media/image2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5.png"/><Relationship Id="rId13" Type="http://schemas.openxmlformats.org/officeDocument/2006/relationships/image" Target="../media/image34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9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43.png"/><Relationship Id="rId7" Type="http://schemas.openxmlformats.org/officeDocument/2006/relationships/image" Target="../media/image35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50.png"/><Relationship Id="rId13" Type="http://schemas.openxmlformats.org/officeDocument/2006/relationships/image" Target="../media/image40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9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39.png"/><Relationship Id="rId7" Type="http://schemas.openxmlformats.org/officeDocument/2006/relationships/image" Target="../media/image46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5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png"/><Relationship Id="rId4" Type="http://schemas.openxmlformats.org/officeDocument/2006/relationships/image" Target="../media/image56.png"/><Relationship Id="rId9" Type="http://schemas.openxmlformats.org/officeDocument/2006/relationships/image" Target="../media/image11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image" Target="../media/image6.png"/><Relationship Id="rId8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1.png"/><Relationship Id="rId9" Type="http://schemas.openxmlformats.org/officeDocument/2006/relationships/image" Target="../media/image61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60.png"/><Relationship Id="rId8" Type="http://schemas.openxmlformats.org/officeDocument/2006/relationships/image" Target="../media/image6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4.png"/><Relationship Id="rId9" Type="http://schemas.openxmlformats.org/officeDocument/2006/relationships/image" Target="../media/image52.png"/><Relationship Id="rId5" Type="http://schemas.openxmlformats.org/officeDocument/2006/relationships/image" Target="../media/image67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6.png"/><Relationship Id="rId9" Type="http://schemas.openxmlformats.org/officeDocument/2006/relationships/image" Target="../media/image63.png"/><Relationship Id="rId5" Type="http://schemas.openxmlformats.org/officeDocument/2006/relationships/image" Target="../media/image58.png"/><Relationship Id="rId6" Type="http://schemas.openxmlformats.org/officeDocument/2006/relationships/image" Target="../media/image71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429" y="2202209"/>
            <a:ext cx="2179141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7404" y="2306984"/>
            <a:ext cx="103733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912244" y="448434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汇报部门：科技部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360044" y="4484340"/>
            <a:ext cx="346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75727" y="4484351"/>
            <a:ext cx="35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战略定位：底层集约 · 业务赋能 · 风险控险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31949" y="641032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智能金融实验室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54269" y="6424612"/>
            <a:ext cx="23709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CONFIDENTIAL - FOR INTERNAL USE ONLY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935480" y="2830859"/>
            <a:ext cx="832104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从“单点实验”迈向“智能体流程重构”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816250" y="3688109"/>
            <a:ext cx="455949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银行大模型本地化落地与AI转型全景规划汇报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25042"/>
            <a:ext cx="25717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725042"/>
            <a:ext cx="25717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725042"/>
            <a:ext cx="25717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2725042"/>
            <a:ext cx="25717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1953" y="6410325"/>
            <a:ext cx="363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现状与刚性约束分析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02 / 12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9917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04875" y="3553717"/>
            <a:ext cx="2200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网络隔离严苛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3953767"/>
            <a:ext cx="20955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全物理隔离内网，数据绝对不可出域。大模型基建必须实现100%本地化与离线化安全运行。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7125" y="29917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3667125" y="3553717"/>
            <a:ext cx="2200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算力资源受限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667125" y="3953767"/>
            <a:ext cx="20955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本地私有化部署，算力硬件资产必须集约化调度，无法承受应用各自占有算力的碎片化浪费。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9917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429375" y="3553717"/>
            <a:ext cx="2200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研发人力两难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29375" y="3953767"/>
            <a:ext cx="2095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AI工作由传统IT团队兼任，深陷日常系统维护的“提单-接单”循环，极度缺乏专职算法工程专家。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91625" y="29917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9191625" y="3553717"/>
            <a:ext cx="2200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治理机制未立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191625" y="3953767"/>
            <a:ext cx="2095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行内暂无跨部门的AI治理风控组织，科技部门需独自承担AI生成内容合规与输出风险的全部责任。</a:t>
            </a:r>
            <a:endParaRPr/>
          </a:p>
        </p:txBody>
      </p:sp>
      <p:pic>
        <p:nvPicPr>
          <p:cNvPr descr="image.png" id="121" name="Google Shape;12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308" y="3106042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02558" y="3106042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4808" y="3106042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27058" y="310604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现状分析：四大刚性约束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53605"/>
            <a:ext cx="52863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653605"/>
            <a:ext cx="52863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4491930"/>
            <a:ext cx="4600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491930"/>
            <a:ext cx="4600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831954" y="6410325"/>
            <a:ext cx="431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核心变革破局逻辑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 / 12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1009650" y="3025080"/>
            <a:ext cx="4600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05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STRATEGY 01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009650" y="3272730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9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变“烟囱开发”为“乐高拼装”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09650" y="379660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科技部不为每个具体业务定制大模型，而是集约化构建</a:t>
            </a:r>
            <a:r>
              <a:rPr b="1" i="0" lang="zh-CN" sz="120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私有化统一AI接入网关</a:t>
            </a:r>
            <a:r>
              <a:rPr b="0" i="0" lang="zh-CN" sz="12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，封装底层大模型能力为标准内网API。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81775" y="3025080"/>
            <a:ext cx="4600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0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STRATEGY 02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581775" y="3272730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9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变“行政审批”为“技术护栏”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581775" y="379660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在全行级AI风控治理委员会建立前的过渡期，科技部通过在网关层硬编码设立</a:t>
            </a:r>
            <a:r>
              <a:rPr b="1" i="0" lang="zh-CN" sz="12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“输入动态脱敏、输出实时过滤”</a:t>
            </a:r>
            <a:r>
              <a:rPr b="0" i="0" lang="zh-CN" sz="12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双向技术防火墙。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核心破局逻辑：中台化与技术化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48867"/>
            <a:ext cx="52863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172717"/>
            <a:ext cx="5286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68017"/>
            <a:ext cx="5286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658617"/>
            <a:ext cx="5286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831952" y="6410325"/>
            <a:ext cx="336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全行级总体技术架构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04 / 12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666750" y="2848867"/>
            <a:ext cx="5286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架构蓝图 (BLUEPRINT)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4163317"/>
            <a:ext cx="5286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6438900" y="3001267"/>
            <a:ext cx="488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统一控制流 (CONTROL FLOW)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2867917"/>
            <a:ext cx="9644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19150" y="3277492"/>
            <a:ext cx="79816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L1 业务应用层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128343" y="3282255"/>
            <a:ext cx="16723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研发助手 | 制度百事通 | 信贷尽调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19150" y="3772792"/>
            <a:ext cx="79816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L2 应用构建层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778894" y="3777555"/>
            <a:ext cx="202183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Dify 可视化编排 | Harness SDK | 客户端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19150" y="4268092"/>
            <a:ext cx="10458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L3 统一能力网关层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4111376" y="4272855"/>
            <a:ext cx="168934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隐私脱敏 / IAM 权限 / 双向过滤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19150" y="4763392"/>
            <a:ext cx="10458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L4 基础设施与推理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3499246" y="4768155"/>
            <a:ext cx="230147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vLLM 推理 | Milvus 向量存储 | DeepSeek系列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900" y="3020317"/>
            <a:ext cx="9644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6438900" y="3772792"/>
            <a:ext cx="488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1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权限继承校验：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继承发起人AD域原有凭证，防止越权提问。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438900" y="4010917"/>
            <a:ext cx="488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1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动态隐私脱敏：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基于本地NER遮掩身份证、手机号等PII敏感字段。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438900" y="4249042"/>
            <a:ext cx="488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1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防注入拦截：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实时审查并拦截“忽略以上指令”等恶意Prompt注入。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438900" y="4487167"/>
            <a:ext cx="488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1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智能算力路由：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轻任务路由至8B/14B，重推理路由至32B/671B。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38900" y="4725292"/>
            <a:ext cx="488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b="1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双向安全过滤：</a:t>
            </a: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校验输出置信度，过滤捏造幻觉与营销雷区。</a:t>
            </a:r>
            <a:endParaRPr/>
          </a:p>
        </p:txBody>
      </p:sp>
      <p:pic>
        <p:nvPicPr>
          <p:cNvPr descr="image.png" id="179" name="Google Shape;17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11376" y="4291905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四层技术蓝图与统一控制流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67892"/>
            <a:ext cx="34607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667892"/>
            <a:ext cx="34607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67892"/>
            <a:ext cx="3460849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844915" y="6401045"/>
            <a:ext cx="374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多元化应用构建模式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</a:t>
            </a:r>
            <a:endParaRPr/>
          </a:p>
        </p:txBody>
      </p:sp>
      <p:pic>
        <p:nvPicPr>
          <p:cNvPr descr="image.png" id="193" name="Google Shape;19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293459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904875" y="3496567"/>
            <a:ext cx="31336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Dify 编排平台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904875" y="3896617"/>
            <a:ext cx="2984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</a:t>
            </a: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业务部门与IT通才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04875" y="4225230"/>
            <a:ext cx="2984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可视化低代码拖拽编排，内置开箱即用的 RAG 管道。适合标准化办公、制度问答及轻量级质检等场景。</a:t>
            </a:r>
            <a:endParaRPr/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03700" y="293459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4603700" y="3496567"/>
            <a:ext cx="313367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SDK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603700" y="3858517"/>
            <a:ext cx="2984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</a:t>
            </a: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专职技术开发团队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4603700" y="4187130"/>
            <a:ext cx="2984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代码级深度控制（Java/Python双轨），支持复杂多Agent协同、核心系统事务级挂接及资金账务集成。</a:t>
            </a:r>
            <a:endParaRPr/>
          </a:p>
        </p:txBody>
      </p:sp>
      <p:pic>
        <p:nvPicPr>
          <p:cNvPr descr="image.png" id="202" name="Google Shape;20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2525" y="293459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8302525" y="3496567"/>
            <a:ext cx="31338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Client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302525" y="3858517"/>
            <a:ext cx="298459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</a:t>
            </a: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全员桌面终端办公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302525" y="4187130"/>
            <a:ext cx="29845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轻量客户端沙箱，支持原生 MCP 模型上下文协议。适合代码自动补全、公文辅助合稿及个人办公敏捷提效。</a:t>
            </a:r>
            <a:endParaRPr/>
          </a:p>
        </p:txBody>
      </p:sp>
      <p:pic>
        <p:nvPicPr>
          <p:cNvPr descr="image.png" id="206" name="Google Shape;20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0308" y="3048892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39133" y="3048892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37959" y="304889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三大应用构建方式定位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958405"/>
            <a:ext cx="52863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225998"/>
            <a:ext cx="198938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520380"/>
            <a:ext cx="4791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4149030"/>
            <a:ext cx="4791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831952" y="6410325"/>
            <a:ext cx="283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Dify 平台特性与实践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06 / 12</a:t>
            </a:r>
            <a:endParaRPr/>
          </a:p>
        </p:txBody>
      </p:sp>
      <p:pic>
        <p:nvPicPr>
          <p:cNvPr descr="image.png" id="223" name="Google Shape;22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666750" y="3673673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释放业务创新的“乐高拼装画布”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66750" y="4090838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25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将大模型、向量数据库、自研接口工具整合为画布节点。支持业务人员与科技人员协作拼装，摆脱冗长的软件开发周期，几日内即可敏捷上线。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486525" y="3206055"/>
            <a:ext cx="50306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典型工作流场景案例</a:t>
            </a:r>
            <a:endParaRPr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3225105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Dify：可视化智能体编排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988022"/>
            <a:ext cx="5286375" cy="1912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988022"/>
            <a:ext cx="5286375" cy="1912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4309913"/>
            <a:ext cx="48101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4309913"/>
            <a:ext cx="48101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831949" y="6410325"/>
            <a:ext cx="1409997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SDK 金融工程开发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07 / 12</a:t>
            </a:r>
            <a:endParaRPr/>
          </a:p>
        </p:txBody>
      </p:sp>
      <p:pic>
        <p:nvPicPr>
          <p:cNvPr descr="image.png" id="242" name="Google Shape;24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 txBox="1"/>
          <p:nvPr/>
        </p:nvSpPr>
        <p:spPr>
          <a:xfrm>
            <a:off x="904875" y="3769072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原生适配银行核心技术栈，支持多智能体（Multi-Agent）在记账、清算等交易链条中的高并发流式计算与状态异常回滚控制。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477000" y="3769072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便于行内少量机器学习或模型专家研发。在本地实现深度神经网络、特征工程（如CatBoost等定价模型）与前沿大模型的无缝对接。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1148357" y="3254722"/>
            <a:ext cx="13786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 Java SDK 绑定</a:t>
            </a:r>
            <a:endParaRPr/>
          </a:p>
        </p:txBody>
      </p:sp>
      <p:pic>
        <p:nvPicPr>
          <p:cNvPr descr="image.png" id="246" name="Google Shape;24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40783" y="3349972"/>
            <a:ext cx="874216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6720482" y="3254722"/>
            <a:ext cx="16114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 Python SDK 绑定</a:t>
            </a:r>
            <a:endParaRPr/>
          </a:p>
        </p:txBody>
      </p:sp>
      <p:pic>
        <p:nvPicPr>
          <p:cNvPr descr="image.png" id="248" name="Google Shape;24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03358" y="3349972"/>
            <a:ext cx="1083766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4875" y="3288059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3288059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SDK：核心引擎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841724"/>
            <a:ext cx="3460700" cy="1471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841724"/>
            <a:ext cx="3460700" cy="1471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41724"/>
            <a:ext cx="3460849" cy="1471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831951" y="6410325"/>
            <a:ext cx="272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Client 定位与部署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08 / 12</a:t>
            </a:r>
            <a:endParaRPr/>
          </a:p>
        </p:txBody>
      </p:sp>
      <p:pic>
        <p:nvPicPr>
          <p:cNvPr descr="image.png" id="264" name="Google Shape;26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703861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1157882" y="4713386"/>
            <a:ext cx="69208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一句话总结：</a:t>
            </a: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低代码标准化场景走 Dify 画布；核心系统集成与资产负债表业务，一律采用 Harness SDK 进行工程化深度定制。</a:t>
            </a:r>
            <a:endParaRPr/>
          </a:p>
        </p:txBody>
      </p:sp>
      <p:pic>
        <p:nvPicPr>
          <p:cNvPr descr="image.png" id="266" name="Google Shape;26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923925" y="3079849"/>
            <a:ext cx="296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本地沙箱隔离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923925" y="3403699"/>
            <a:ext cx="2965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在行内员工终端运行，物理隔离内网。对话数据完全在沙箱中进行初审脱敏，彻底封堵行内核心机密外流风险。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4622750" y="3079849"/>
            <a:ext cx="296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原生 MCP 支持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622750" y="3403699"/>
            <a:ext cx="2965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Model Context Protocol（模型上下文协议），本地模型能即时理解并重构老旧Legacy Code（如COBOL/存量老Java）。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8321575" y="3079849"/>
            <a:ext cx="29655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35% 效能释放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321575" y="3403699"/>
            <a:ext cx="29655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无缝在行内物理隔离电脑上生成单元测试、补全安全合规代码，帮科技人员从繁重的维护任务中抽身。</a:t>
            </a:r>
            <a:endParaRPr/>
          </a:p>
        </p:txBody>
      </p:sp>
      <p:pic>
        <p:nvPicPr>
          <p:cNvPr descr="image.png" id="273" name="Google Shape;27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3925" y="3108424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2750" y="3108424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1575" y="3108424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 Client：智能外挂</a:t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84574"/>
            <a:ext cx="3460700" cy="2319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784574"/>
            <a:ext cx="3460700" cy="2319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84574"/>
            <a:ext cx="3460849" cy="2319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4384774"/>
            <a:ext cx="2984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3700" y="4570511"/>
            <a:ext cx="2984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2525" y="4570511"/>
            <a:ext cx="2984599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/>
        </p:nvSpPr>
        <p:spPr>
          <a:xfrm>
            <a:off x="831951" y="6315075"/>
            <a:ext cx="272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统一接入网关控险机制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09 / 12</a:t>
            </a:r>
            <a:endParaRPr/>
          </a:p>
        </p:txBody>
      </p:sp>
      <p:pic>
        <p:nvPicPr>
          <p:cNvPr descr="image.png" id="292" name="Google Shape;29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904875" y="3051274"/>
            <a:ext cx="2984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904875" y="3517999"/>
            <a:ext cx="31336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隐私数据动态脱敏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904875" y="3898999"/>
            <a:ext cx="2984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网关隐私模块自动调用金融NER模型，提取并遮盖手机号、身份证、卡号等隐私信息：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603700" y="3051274"/>
            <a:ext cx="2984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4603700" y="3517999"/>
            <a:ext cx="31336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IAM 权限强制继承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4603700" y="3898999"/>
            <a:ext cx="298445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网关强行继承请求发起员工在传统AD域或LDAP中的原有操作权限。低权限员工绝对无法通过 Prompt 诱导，越权套取高密级文档。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302525" y="3051274"/>
            <a:ext cx="29845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8302525" y="3517999"/>
            <a:ext cx="31338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双向异步护栏过滤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302525" y="3898999"/>
            <a:ext cx="298459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输入端实时扫描防恶意注入攻击。输出端深度耦合金融专业词库，实时拦截大模型“胡言乱语”或捏造虚假收益率。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安全入口：三大硬核控险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763142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763142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831951" y="6410325"/>
            <a:ext cx="2265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业务场景深度演进规划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/>
          </a:p>
        </p:txBody>
      </p:sp>
      <p:pic>
        <p:nvPicPr>
          <p:cNvPr descr="image.png" id="314" name="Google Shape;3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942975" y="3067942"/>
            <a:ext cx="473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RUN (卓越运营) - 降本提效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6515100" y="3067942"/>
            <a:ext cx="473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75" u="none" cap="none" strike="noStrike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PROTECT (风险防控) - 质量保障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942975" y="3334642"/>
            <a:ext cx="49706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科技部研发助手与老旧代码重构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942975" y="3591817"/>
            <a:ext cx="4733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利用本地编程助手消化常规修补及老旧代码重构。科技部研发效能整体提升约 35%。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942975" y="3920430"/>
            <a:ext cx="49706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制度百事通与全渠道客服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942975" y="4177605"/>
            <a:ext cx="47339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RAG智能问答降低一线网点制度检索时间（15分变1分）；高容错环境下，通话处理时长（AHT）压降约 50%。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515100" y="3334642"/>
            <a:ext cx="49706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信贷尽调合稿与报告生成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515100" y="3591817"/>
            <a:ext cx="47339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多步推理提取数据自动组合尽调报告。只读权限至 99%，1% 实质性准入权交由人类风控终审，保障人机协同合规防线。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6515100" y="4106167"/>
            <a:ext cx="49706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智能支付路由与差异化定价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6515100" y="4363342"/>
            <a:ext cx="47339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动态拟合支付成功率与手续费（STP）；CatBoost 多维拟合优质零售客户，在不良贷款（NPL）可控下极大化营收价值。</a:t>
            </a:r>
            <a:endParaRPr/>
          </a:p>
        </p:txBody>
      </p:sp>
      <p:pic>
        <p:nvPicPr>
          <p:cNvPr descr="image.png" id="325" name="Google Shape;32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975" y="3353692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975" y="3939480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5100" y="3353692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5100" y="4125217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卓越运营与风险防控场景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/>
          <p:nvPr/>
        </p:nvSpPr>
        <p:spPr>
          <a:xfrm>
            <a:off x="666750" y="2262187"/>
            <a:ext cx="10858500" cy="2924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23"/>
          <p:cNvGraphicFramePr/>
          <p:nvPr/>
        </p:nvGraphicFramePr>
        <p:xfrm>
          <a:off x="666750" y="2262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{6C0A5A75-5784-48D4-B658-F0097067539E}</a:tableStyleId>
              </a:tblPr>
              <a:tblGrid>
                <a:gridCol w="1885975"/>
                <a:gridCol w="2309400"/>
                <a:gridCol w="3328275"/>
                <a:gridCol w="3334850"/>
              </a:tblGrid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能力商品名称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核心技术底座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金融适用典型场景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业务价值贡献与回报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880"/>
                    </a:solidFill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文本要素一键提取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Dify 可视化解析平台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信贷材料解析、合同批量合规质检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非结构化繁琐要素审核效率提升 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制度防幻觉智能问答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Dify + RAG 检索中台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网点规章制度百事通、行内FAQ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制度检索成本减半，消除监管合规误区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报告智能生成合稿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Harness SDK (Python)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对公信贷尽调报告、财企分析报告初稿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极大缩短批贷审批流转时长 (TAT)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高精度流式时序预测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Harness SDK (Java) +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财资流动性实时管理、动态小微贷款定价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CN" sz="1125" u="none" cap="none" strike="noStrike"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有效留存高净值客户活期及优质理财资产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9" name="Google Shape;339;p23"/>
          <p:cNvSpPr txBox="1"/>
          <p:nvPr/>
        </p:nvSpPr>
        <p:spPr>
          <a:xfrm>
            <a:off x="666750" y="5329237"/>
            <a:ext cx="10858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* 业务部门“像逛超市一样”自主勾选，开发团队基于网关高效组装，实现极低沟通耗能。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831949" y="6410325"/>
            <a:ext cx="10224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AI场景赋能货架清单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1184135" y="6424612"/>
            <a:ext cx="34111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671512" y="2967037"/>
            <a:ext cx="1660624" cy="1905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2332136" y="2967037"/>
            <a:ext cx="2033438" cy="1905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4365575" y="2967037"/>
            <a:ext cx="2930574" cy="1905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7296150" y="2967037"/>
            <a:ext cx="1287958" cy="1905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8584108" y="2967037"/>
            <a:ext cx="2936378" cy="1905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7" name="Google Shape;3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/>
          <p:nvPr/>
        </p:nvSpPr>
        <p:spPr>
          <a:xfrm>
            <a:off x="671512" y="3438525"/>
            <a:ext cx="16606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2332136" y="3438525"/>
            <a:ext cx="20334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4365575" y="3438525"/>
            <a:ext cx="29305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7296150" y="3438525"/>
            <a:ext cx="12879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8584108" y="3438525"/>
            <a:ext cx="29363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671512" y="4076700"/>
            <a:ext cx="16606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2332136" y="4076700"/>
            <a:ext cx="20334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4365575" y="4076700"/>
            <a:ext cx="29305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7296150" y="4076700"/>
            <a:ext cx="12879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8584108" y="4076700"/>
            <a:ext cx="29363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671512" y="4533900"/>
            <a:ext cx="16606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2332136" y="4533900"/>
            <a:ext cx="20334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4365575" y="4533900"/>
            <a:ext cx="29305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7296150" y="4533900"/>
            <a:ext cx="12879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8584108" y="4533900"/>
            <a:ext cx="29363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能力货架：应对约束赋能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D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433167"/>
            <a:ext cx="3460700" cy="193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3433167"/>
            <a:ext cx="3460700" cy="193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433167"/>
            <a:ext cx="3460849" cy="193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6286500"/>
            <a:ext cx="10858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 txBox="1"/>
          <p:nvPr/>
        </p:nvSpPr>
        <p:spPr>
          <a:xfrm>
            <a:off x="831951" y="6358975"/>
            <a:ext cx="2437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银行大模型落地破局路线图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11175652" y="6424612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12 / 12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2800200" y="2500150"/>
            <a:ext cx="762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建议避开复杂跨部门业务重组，优先切入安全合规、自我闭环的 </a:t>
            </a:r>
            <a:r>
              <a:rPr b="1" i="0" lang="zh-CN" sz="13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“Run (日常运营)”</a:t>
            </a:r>
            <a:r>
              <a:rPr b="0" i="0" lang="zh-CN" sz="13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领域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2800201" y="2867471"/>
            <a:ext cx="6591448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050" u="none" cap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通过快速见效的试点建设，展现降本实效，以此在行内盘活资产并建立广泛的群众与管理层转型信心。</a:t>
            </a:r>
            <a:endParaRPr/>
          </a:p>
        </p:txBody>
      </p:sp>
      <p:pic>
        <p:nvPicPr>
          <p:cNvPr descr="image.png" id="378" name="Google Shape;37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6434137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 txBox="1"/>
          <p:nvPr/>
        </p:nvSpPr>
        <p:spPr>
          <a:xfrm>
            <a:off x="840264" y="4128492"/>
            <a:ext cx="31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1. 零合规风险内网闭环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914400" y="4452342"/>
            <a:ext cx="2965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在科技部内网全隔离部署，不接触行外敏感数据，通过网关硬编码双向技术护栏，先跑通L1安全闭环。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4539090" y="4128492"/>
            <a:ext cx="31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C5A880"/>
                </a:solidFill>
                <a:latin typeface="Noto Sans SC"/>
                <a:ea typeface="Noto Sans SC"/>
                <a:cs typeface="Noto Sans SC"/>
                <a:sym typeface="Noto Sans SC"/>
              </a:rPr>
              <a:t>2. 科技部团队自我造血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613225" y="4452342"/>
            <a:ext cx="2965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先利用编程助手帮科技条线释放约 35% 基础开发压力。释放出的研发力量作为骨干，应对后续业务定制需求。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8237912" y="4128492"/>
            <a:ext cx="31138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50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3. 盘活冷数据显现价值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8312050" y="4452342"/>
            <a:ext cx="296554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975" u="none" cap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通过部署“制度百事通”，盘活中台里无人问津的“非结构化资产”，让全员体验到AI红利，为大模型推广奠定基础。</a:t>
            </a:r>
            <a:endParaRPr/>
          </a:p>
        </p:txBody>
      </p:sp>
      <p:pic>
        <p:nvPicPr>
          <p:cNvPr descr="image.png" id="385" name="Google Shape;385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93292" y="372844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92117" y="372844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1092" y="3728442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4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行动建议：先发制人破局</a:t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666750" y="476250"/>
            <a:ext cx="47625" cy="69711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